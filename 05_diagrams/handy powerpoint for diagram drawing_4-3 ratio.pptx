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147483143" r:id="rId2"/>
    <p:sldId id="2147483154" r:id="rId3"/>
    <p:sldId id="2147483148" r:id="rId4"/>
    <p:sldId id="2147483153" r:id="rId5"/>
    <p:sldId id="2147483152" r:id="rId6"/>
    <p:sldId id="267" r:id="rId7"/>
  </p:sldIdLst>
  <p:sldSz cx="11520488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0F7D6F"/>
    <a:srgbClr val="2B2B30"/>
    <a:srgbClr val="E4E3E8"/>
    <a:srgbClr val="0B5F52"/>
    <a:srgbClr val="29C782"/>
    <a:srgbClr val="48DA9B"/>
    <a:srgbClr val="A9D1F7"/>
    <a:srgbClr val="F2B800"/>
    <a:srgbClr val="B4F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6" autoAdjust="0"/>
    <p:restoredTop sz="86898" autoAdjust="0"/>
  </p:normalViewPr>
  <p:slideViewPr>
    <p:cSldViewPr snapToGrid="0">
      <p:cViewPr>
        <p:scale>
          <a:sx n="66" d="100"/>
          <a:sy n="66" d="100"/>
        </p:scale>
        <p:origin x="142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EF136-4E4F-4A1E-BDAC-3228FB545B3D}" type="datetimeFigureOut">
              <a:rPr lang="en-US" smtClean="0"/>
              <a:t>2026-05-30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8CAF4-D810-42BE-8E07-A8895626B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2046-E524-ED47-2F52-09428B4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35713-57A3-C883-7379-26EEBA485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1D9D1-EC28-DB22-C88C-3A5E9969A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AC4BF-39F8-99BB-F671-F6116C8FA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76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037" y="1414125"/>
            <a:ext cx="9792415" cy="3008266"/>
          </a:xfrm>
        </p:spPr>
        <p:txBody>
          <a:bodyPr anchor="b"/>
          <a:lstStyle>
            <a:lvl1pPr algn="ctr">
              <a:defRPr sz="755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4538401"/>
            <a:ext cx="8640366" cy="2086184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576026" indent="0" algn="ctr">
              <a:buNone/>
              <a:defRPr sz="2520"/>
            </a:lvl2pPr>
            <a:lvl3pPr marL="1152053" indent="0" algn="ctr">
              <a:buNone/>
              <a:defRPr sz="2268"/>
            </a:lvl3pPr>
            <a:lvl4pPr marL="1728079" indent="0" algn="ctr">
              <a:buNone/>
              <a:defRPr sz="2016"/>
            </a:lvl4pPr>
            <a:lvl5pPr marL="2304105" indent="0" algn="ctr">
              <a:buNone/>
              <a:defRPr sz="2016"/>
            </a:lvl5pPr>
            <a:lvl6pPr marL="2880131" indent="0" algn="ctr">
              <a:buNone/>
              <a:defRPr sz="2016"/>
            </a:lvl6pPr>
            <a:lvl7pPr marL="3456158" indent="0" algn="ctr">
              <a:buNone/>
              <a:defRPr sz="2016"/>
            </a:lvl7pPr>
            <a:lvl8pPr marL="4032184" indent="0" algn="ctr">
              <a:buNone/>
              <a:defRPr sz="2016"/>
            </a:lvl8pPr>
            <a:lvl9pPr marL="4608210" indent="0" algn="ctr">
              <a:buNone/>
              <a:defRPr sz="2016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B2B6-6F8E-4CDE-968E-0EAD9549A4BA}" type="datetime1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8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6854-48A5-414D-9236-F892AD56049F}" type="datetime1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7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4" y="2154193"/>
            <a:ext cx="9936421" cy="3594317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4" y="5782513"/>
            <a:ext cx="9936421" cy="189016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57602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152053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728079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4pPr>
            <a:lvl5pPr marL="2304105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5pPr>
            <a:lvl6pPr marL="2880131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6pPr>
            <a:lvl7pPr marL="3456158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7pPr>
            <a:lvl8pPr marL="4032184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8pPr>
            <a:lvl9pPr marL="460821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9AC0C-7197-423D-9CD1-CC6A1DFEE5DC}" type="datetime1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2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2300203"/>
            <a:ext cx="4896207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2300203"/>
            <a:ext cx="4896207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4C4E7-9745-47EE-BC15-9EAF363639B0}" type="datetime1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7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460043"/>
            <a:ext cx="9936421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2118188"/>
            <a:ext cx="4873706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3156278"/>
            <a:ext cx="4873706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8" y="2118188"/>
            <a:ext cx="4897708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8" y="3156278"/>
            <a:ext cx="4897708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B172D-6919-4E00-8831-0F276A4AFB3D}" type="datetime1">
              <a:rPr lang="en-US" smtClean="0"/>
              <a:t>2026-05-30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1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F9E9-D50E-4C06-B7ED-4F474FA33CF2}" type="datetime1">
              <a:rPr lang="en-US" smtClean="0"/>
              <a:t>2026-05-30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6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9600-6710-4A0A-92BC-B1EBC13AB526}" type="datetime1">
              <a:rPr lang="en-US" smtClean="0"/>
              <a:t>2026-05-30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576051"/>
            <a:ext cx="3715657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1244112"/>
            <a:ext cx="5832247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2800"/>
            </a:lvl3pPr>
            <a:lvl4pPr>
              <a:defRPr sz="240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2592229"/>
            <a:ext cx="3715657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BD07-EBE7-4684-89E6-9EA7DB7FBA33}" type="datetime1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576051"/>
            <a:ext cx="3715657" cy="201617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1244112"/>
            <a:ext cx="5832247" cy="6140542"/>
          </a:xfrm>
        </p:spPr>
        <p:txBody>
          <a:bodyPr anchor="t"/>
          <a:lstStyle>
            <a:lvl1pPr marL="0" indent="0">
              <a:buNone/>
              <a:defRPr sz="4000"/>
            </a:lvl1pPr>
            <a:lvl2pPr marL="576026" indent="0">
              <a:buNone/>
              <a:defRPr sz="3528"/>
            </a:lvl2pPr>
            <a:lvl3pPr marL="1152053" indent="0">
              <a:buNone/>
              <a:defRPr sz="3024"/>
            </a:lvl3pPr>
            <a:lvl4pPr marL="1728079" indent="0">
              <a:buNone/>
              <a:defRPr sz="2520"/>
            </a:lvl4pPr>
            <a:lvl5pPr marL="2304105" indent="0">
              <a:buNone/>
              <a:defRPr sz="2520"/>
            </a:lvl5pPr>
            <a:lvl6pPr marL="2880131" indent="0">
              <a:buNone/>
              <a:defRPr sz="2520"/>
            </a:lvl6pPr>
            <a:lvl7pPr marL="3456158" indent="0">
              <a:buNone/>
              <a:defRPr sz="2520"/>
            </a:lvl7pPr>
            <a:lvl8pPr marL="4032184" indent="0">
              <a:buNone/>
              <a:defRPr sz="2520"/>
            </a:lvl8pPr>
            <a:lvl9pPr marL="4608210" indent="0">
              <a:buNone/>
              <a:defRPr sz="252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2592229"/>
            <a:ext cx="3715657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0C8A4-1FC2-4D92-846A-AC835DC26AB2}" type="datetime1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2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C5AD-9512-47D9-A73E-CFA387F04F36}" type="datetime1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2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50" y="460041"/>
            <a:ext cx="2484105" cy="732264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4" y="460041"/>
            <a:ext cx="7308310" cy="732264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05E7-EFD1-4F1D-A098-4A691BA0CCA5}" type="datetime1">
              <a:rPr lang="en-US" smtClean="0"/>
              <a:t>2026-05-30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1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460043"/>
            <a:ext cx="9936421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2300203"/>
            <a:ext cx="9936421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8008709"/>
            <a:ext cx="259211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E718E-B410-4B0D-AD6C-E41F32B3D70D}" type="datetime1">
              <a:rPr lang="en-US" smtClean="0"/>
              <a:t>2026-05-30</a:t>
            </a:fld>
            <a:endParaRPr lang="en-US" sz="16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8008709"/>
            <a:ext cx="3888165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600"/>
              <a:t>your-name@your.institute.edu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8008709"/>
            <a:ext cx="2592110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08443-9971-4CF7-AC11-FCF956BB598F}" type="slidenum">
              <a:rPr lang="en-US" smtClean="0"/>
              <a:pPr/>
              <a:t>‹#›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9674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152053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13" indent="-288013" algn="l" defTabSz="115205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64039" indent="-288013" algn="l" defTabSz="115205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66" indent="-288013" algn="l" defTabSz="115205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092" indent="-288013" algn="l" defTabSz="115205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118" indent="-288013" algn="l" defTabSz="115205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145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171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197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223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26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053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079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105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131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158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184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21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26621-4286-308E-1FA7-3CB0E352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C39A3BF-6AC8-9217-FFF1-BB7AF94FCC33}"/>
              </a:ext>
            </a:extLst>
          </p:cNvPr>
          <p:cNvGrpSpPr/>
          <p:nvPr/>
        </p:nvGrpSpPr>
        <p:grpSpPr>
          <a:xfrm>
            <a:off x="326326" y="404718"/>
            <a:ext cx="6746471" cy="2932193"/>
            <a:chOff x="756287" y="1061422"/>
            <a:chExt cx="7139713" cy="310310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F9ECC37-629F-0D71-BF9A-F3EF7AC29F3F}"/>
                </a:ext>
              </a:extLst>
            </p:cNvPr>
            <p:cNvGrpSpPr/>
            <p:nvPr/>
          </p:nvGrpSpPr>
          <p:grpSpPr>
            <a:xfrm>
              <a:off x="3596973" y="1430753"/>
              <a:ext cx="1800000" cy="1401932"/>
              <a:chOff x="3560712" y="1430753"/>
              <a:chExt cx="1800000" cy="1401932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56062BC-8236-B016-DE1E-34827C841892}"/>
                  </a:ext>
                </a:extLst>
              </p:cNvPr>
              <p:cNvSpPr/>
              <p:nvPr/>
            </p:nvSpPr>
            <p:spPr>
              <a:xfrm>
                <a:off x="3560712" y="2184685"/>
                <a:ext cx="1800000" cy="648000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890" b="1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GitHub</a:t>
                </a:r>
              </a:p>
              <a:p>
                <a:pPr algn="ctr">
                  <a:lnSpc>
                    <a:spcPts val="1512"/>
                  </a:lnSpc>
                </a:pPr>
                <a:r>
                  <a:rPr lang="en-US" sz="1512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Canonical</a:t>
                </a:r>
              </a:p>
            </p:txBody>
          </p:sp>
          <p:pic>
            <p:nvPicPr>
              <p:cNvPr id="1030" name="Picture 6" descr="Logo - Brand Toolkit">
                <a:extLst>
                  <a:ext uri="{FF2B5EF4-FFF2-40B4-BE49-F238E27FC236}">
                    <a16:creationId xmlns:a16="http://schemas.microsoft.com/office/drawing/2014/main" id="{5474D081-F84C-A0E9-A775-2E5ABB98EB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645" t="26693" r="66770" b="25935"/>
              <a:stretch>
                <a:fillRect/>
              </a:stretch>
            </p:blipFill>
            <p:spPr bwMode="auto">
              <a:xfrm>
                <a:off x="4100712" y="1430753"/>
                <a:ext cx="720000" cy="72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A0FC9AA-FEF3-E470-4774-5DD7748EE000}"/>
                </a:ext>
              </a:extLst>
            </p:cNvPr>
            <p:cNvSpPr/>
            <p:nvPr/>
          </p:nvSpPr>
          <p:spPr>
            <a:xfrm>
              <a:off x="1097947" y="3516528"/>
              <a:ext cx="1800000" cy="648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90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Local</a:t>
              </a:r>
            </a:p>
            <a:p>
              <a:pPr algn="ctr">
                <a:lnSpc>
                  <a:spcPts val="1512"/>
                </a:lnSpc>
              </a:pPr>
              <a:r>
                <a:rPr lang="en-US" sz="1512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Editing area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030667-B118-8D8E-5457-503CA83A3CA5}"/>
                </a:ext>
              </a:extLst>
            </p:cNvPr>
            <p:cNvGrpSpPr/>
            <p:nvPr/>
          </p:nvGrpSpPr>
          <p:grpSpPr>
            <a:xfrm>
              <a:off x="6096000" y="2709033"/>
              <a:ext cx="1800000" cy="1455495"/>
              <a:chOff x="6096000" y="2709033"/>
              <a:chExt cx="1800000" cy="1455495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049280FD-36E1-E6BD-9890-0445A94E9405}"/>
                  </a:ext>
                </a:extLst>
              </p:cNvPr>
              <p:cNvSpPr/>
              <p:nvPr/>
            </p:nvSpPr>
            <p:spPr>
              <a:xfrm>
                <a:off x="6096000" y="3516528"/>
                <a:ext cx="1800000" cy="648000"/>
              </a:xfrm>
              <a:prstGeom prst="roundRect">
                <a:avLst/>
              </a:prstGeom>
              <a:noFill/>
              <a:ln w="38100">
                <a:solidFill>
                  <a:schemeClr val="tx1">
                    <a:lumMod val="50000"/>
                    <a:lumOff val="5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890" b="1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MIT Athena</a:t>
                </a:r>
              </a:p>
              <a:p>
                <a:pPr algn="ctr">
                  <a:lnSpc>
                    <a:spcPts val="1512"/>
                  </a:lnSpc>
                </a:pPr>
                <a:r>
                  <a:rPr lang="en-US" sz="1512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Deployment</a:t>
                </a:r>
              </a:p>
            </p:txBody>
          </p:sp>
          <p:pic>
            <p:nvPicPr>
              <p:cNvPr id="1032" name="Picture 8" descr="MIT Athena · GitHub">
                <a:extLst>
                  <a:ext uri="{FF2B5EF4-FFF2-40B4-BE49-F238E27FC236}">
                    <a16:creationId xmlns:a16="http://schemas.microsoft.com/office/drawing/2014/main" id="{99DC9E13-9045-39FB-36EA-EF88DE3BB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36000" y="2709033"/>
                <a:ext cx="720000" cy="72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3203EEE-68FD-CFA2-42DE-878631D7A671}"/>
                </a:ext>
              </a:extLst>
            </p:cNvPr>
            <p:cNvGrpSpPr/>
            <p:nvPr/>
          </p:nvGrpSpPr>
          <p:grpSpPr>
            <a:xfrm>
              <a:off x="3011494" y="2988469"/>
              <a:ext cx="2970959" cy="360000"/>
              <a:chOff x="3045528" y="2988469"/>
              <a:chExt cx="2970959" cy="360000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82E9EF3-856B-0DB0-B5E9-BDF3A83580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45528" y="2988469"/>
                <a:ext cx="360000" cy="36000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FB70296-721C-F34A-48A2-13078FAB7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6487" y="2988469"/>
                <a:ext cx="360000" cy="36000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0D3B128-3A54-86B8-065D-A2F6AB0C7A5E}"/>
                </a:ext>
              </a:extLst>
            </p:cNvPr>
            <p:cNvCxnSpPr/>
            <p:nvPr/>
          </p:nvCxnSpPr>
          <p:spPr>
            <a:xfrm>
              <a:off x="3371494" y="3834612"/>
              <a:ext cx="2250959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25E2EB-5161-B4FE-1557-4AF41C8C1EA6}"/>
                </a:ext>
              </a:extLst>
            </p:cNvPr>
            <p:cNvSpPr txBox="1"/>
            <p:nvPr/>
          </p:nvSpPr>
          <p:spPr>
            <a:xfrm>
              <a:off x="4035372" y="3516528"/>
              <a:ext cx="923203" cy="374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01" dirty="0">
                  <a:solidFill>
                    <a:schemeClr val="bg1">
                      <a:lumMod val="75000"/>
                    </a:schemeClr>
                  </a:solidFill>
                </a:rPr>
                <a:t>WinSCP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A300FB-6D58-B27F-6D9F-7B7A42F8F6B6}"/>
                </a:ext>
              </a:extLst>
            </p:cNvPr>
            <p:cNvSpPr txBox="1"/>
            <p:nvPr/>
          </p:nvSpPr>
          <p:spPr>
            <a:xfrm>
              <a:off x="3351707" y="3834612"/>
              <a:ext cx="2290533" cy="282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34" dirty="0">
                  <a:solidFill>
                    <a:schemeClr val="bg1">
                      <a:lumMod val="75000"/>
                    </a:schemeClr>
                  </a:solidFill>
                </a:rPr>
                <a:t>(manual drag, no version control)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9BCFD8-4DEF-C6BA-FAA2-AA93FD5E854E}"/>
                </a:ext>
              </a:extLst>
            </p:cNvPr>
            <p:cNvSpPr txBox="1"/>
            <p:nvPr/>
          </p:nvSpPr>
          <p:spPr>
            <a:xfrm rot="2700000">
              <a:off x="5561922" y="2855358"/>
              <a:ext cx="833291" cy="374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dirty="0"/>
                <a:t>git pull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03FDB9-DC2B-D1B2-D1EB-894AF5C1979E}"/>
                </a:ext>
              </a:extLst>
            </p:cNvPr>
            <p:cNvSpPr txBox="1"/>
            <p:nvPr/>
          </p:nvSpPr>
          <p:spPr>
            <a:xfrm rot="18900000">
              <a:off x="2542260" y="2855359"/>
              <a:ext cx="938470" cy="374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dirty="0"/>
                <a:t>git push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A0DF2FA-08FB-970C-1903-89F52ABF71C0}"/>
                </a:ext>
              </a:extLst>
            </p:cNvPr>
            <p:cNvSpPr txBox="1"/>
            <p:nvPr/>
          </p:nvSpPr>
          <p:spPr>
            <a:xfrm>
              <a:off x="756287" y="1061422"/>
              <a:ext cx="3682836" cy="3747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b="1" dirty="0"/>
                <a:t>MIT Athena CV Deployment Pipeline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355D75-089C-8E58-451A-C0253DAEB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7947" y="2796528"/>
              <a:ext cx="720000" cy="7200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495AD-AD71-B31B-8E47-DBEE3C97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9F0A0-8D92-457F-9C02-E7D242CA7398}" type="datetime1">
              <a:rPr lang="en-US" smtClean="0"/>
              <a:t>2026-05-30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401D2-D4C4-B9DA-802C-9F714AEB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4F312-744C-B402-40A5-0ED8E840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1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4EF88D-4DD9-06A9-2EB7-ADC6E15108FD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924D1E-339B-BF3B-2F1E-B737EE51B290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2692D6-786C-AB51-0820-8447417789CC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089A5E-136E-6D83-A6CE-3A22AFEF47FA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1FEB2F-6F3D-956D-85E9-335534C07C30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A33C3C-C0C8-0E2A-7004-A4C1B05DBB63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38BFE0C-3D37-E28C-F433-85D3C84C30CF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195702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153A8-F212-078E-FF60-8D6123C8E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CF42D4-A8AE-1F6A-3926-33FE4A14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CCD9-8406-4FA8-9511-10DB39F06237}" type="datetime1">
              <a:rPr lang="en-US" smtClean="0"/>
              <a:t>2026-05-30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DA83CE2-FB71-201E-E824-04590EB0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75E2EA-1E5B-537E-9569-916BFEB8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2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71EF34-CD98-BB53-3D23-08FA1CCFA7C7}"/>
              </a:ext>
            </a:extLst>
          </p:cNvPr>
          <p:cNvGrpSpPr/>
          <p:nvPr/>
        </p:nvGrpSpPr>
        <p:grpSpPr>
          <a:xfrm>
            <a:off x="0" y="882322"/>
            <a:ext cx="11520488" cy="6480000"/>
            <a:chOff x="0" y="882322"/>
            <a:chExt cx="11520488" cy="6480000"/>
          </a:xfrm>
        </p:grpSpPr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1697510E-AF2A-0C2B-8BB8-7C3C1772074C}"/>
                </a:ext>
              </a:extLst>
            </p:cNvPr>
            <p:cNvSpPr/>
            <p:nvPr/>
          </p:nvSpPr>
          <p:spPr>
            <a:xfrm>
              <a:off x="0" y="882322"/>
              <a:ext cx="11520488" cy="64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71A011EB-FF21-4A24-5FBB-C14752A4DE40}"/>
                </a:ext>
              </a:extLst>
            </p:cNvPr>
            <p:cNvSpPr txBox="1"/>
            <p:nvPr/>
          </p:nvSpPr>
          <p:spPr>
            <a:xfrm>
              <a:off x="5864520" y="2316222"/>
              <a:ext cx="2765501" cy="354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dirty="0"/>
                <a:t>“Make me an academic site.”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624C8EE3-71E9-6F61-E0A3-31B30F320980}"/>
                </a:ext>
              </a:extLst>
            </p:cNvPr>
            <p:cNvSpPr txBox="1"/>
            <p:nvPr/>
          </p:nvSpPr>
          <p:spPr>
            <a:xfrm>
              <a:off x="3172627" y="963236"/>
              <a:ext cx="51752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Agentic Academic Site - Overview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A94DBBE-2525-E50D-6600-4600F67CD59C}"/>
                </a:ext>
              </a:extLst>
            </p:cNvPr>
            <p:cNvSpPr/>
            <p:nvPr/>
          </p:nvSpPr>
          <p:spPr>
            <a:xfrm>
              <a:off x="4425302" y="1616373"/>
              <a:ext cx="2700000" cy="648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Human (You + Your AI)</a:t>
              </a:r>
            </a:p>
            <a:p>
              <a:pPr algn="ctr">
                <a:lnSpc>
                  <a:spcPts val="1512"/>
                </a:lnSpc>
              </a:pPr>
              <a:r>
                <a:rPr lang="en-US" sz="1600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Input command.</a:t>
              </a:r>
            </a:p>
          </p:txBody>
        </p: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AC11B0EC-CF9B-C1F5-7C93-40FEF9FCA8C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616244" y="2493257"/>
              <a:ext cx="28800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2" name="Rectangle: Rounded Corners 1041">
              <a:extLst>
                <a:ext uri="{FF2B5EF4-FFF2-40B4-BE49-F238E27FC236}">
                  <a16:creationId xmlns:a16="http://schemas.microsoft.com/office/drawing/2014/main" id="{61F62A4A-56F2-68A7-E68F-72A3476F30CD}"/>
                </a:ext>
              </a:extLst>
            </p:cNvPr>
            <p:cNvSpPr/>
            <p:nvPr/>
          </p:nvSpPr>
          <p:spPr>
            <a:xfrm>
              <a:off x="4425302" y="2741622"/>
              <a:ext cx="2700000" cy="648000"/>
            </a:xfrm>
            <a:prstGeom prst="roundRect">
              <a:avLst/>
            </a:prstGeom>
            <a:noFill/>
            <a:ln w="50800">
              <a:solidFill>
                <a:srgbClr val="00B0F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latin typeface="Liberation Mono" panose="02070409020205020404" pitchFamily="49" charset="0"/>
                  <a:ea typeface="芫荽" pitchFamily="2" charset="-120"/>
                  <a:cs typeface="Liberation Mono" panose="02070409020205020404" pitchFamily="49" charset="0"/>
                </a:rPr>
                <a:t>product-manager</a:t>
              </a:r>
            </a:p>
            <a:p>
              <a:pPr algn="ctr">
                <a:lnSpc>
                  <a:spcPts val="1512"/>
                </a:lnSpc>
              </a:pPr>
              <a:r>
                <a:rPr lang="en-US" sz="1600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Orchestrates the team.</a:t>
              </a:r>
            </a:p>
          </p:txBody>
        </p:sp>
        <p:grpSp>
          <p:nvGrpSpPr>
            <p:cNvPr id="1055" name="Group 1054">
              <a:extLst>
                <a:ext uri="{FF2B5EF4-FFF2-40B4-BE49-F238E27FC236}">
                  <a16:creationId xmlns:a16="http://schemas.microsoft.com/office/drawing/2014/main" id="{8753D1F1-0885-EBAA-1CA5-78429C7567C3}"/>
                </a:ext>
              </a:extLst>
            </p:cNvPr>
            <p:cNvGrpSpPr/>
            <p:nvPr/>
          </p:nvGrpSpPr>
          <p:grpSpPr>
            <a:xfrm>
              <a:off x="320713" y="4182214"/>
              <a:ext cx="10879062" cy="1260000"/>
              <a:chOff x="320713" y="3980985"/>
              <a:chExt cx="10879062" cy="1260000"/>
            </a:xfrm>
          </p:grpSpPr>
          <p:sp>
            <p:nvSpPr>
              <p:cNvPr id="1043" name="Rectangle: Rounded Corners 1042">
                <a:extLst>
                  <a:ext uri="{FF2B5EF4-FFF2-40B4-BE49-F238E27FC236}">
                    <a16:creationId xmlns:a16="http://schemas.microsoft.com/office/drawing/2014/main" id="{AF01C68C-7590-129C-58C2-5FF79C0136AB}"/>
                  </a:ext>
                </a:extLst>
              </p:cNvPr>
              <p:cNvSpPr/>
              <p:nvPr/>
            </p:nvSpPr>
            <p:spPr>
              <a:xfrm>
                <a:off x="320713" y="3980985"/>
                <a:ext cx="2052000" cy="1260000"/>
              </a:xfrm>
              <a:prstGeom prst="roundRect">
                <a:avLst/>
              </a:prstGeom>
              <a:noFill/>
              <a:ln w="50800">
                <a:solidFill>
                  <a:srgbClr val="00B0F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1"/>
                    </a:solidFill>
                    <a:latin typeface="Liberation Mono" panose="02070409020205020404" pitchFamily="49" charset="0"/>
                    <a:ea typeface="芫荽" pitchFamily="2" charset="-120"/>
                    <a:cs typeface="Liberation Mono" panose="02070409020205020404" pitchFamily="49" charset="0"/>
                  </a:rPr>
                  <a:t>content-strategist</a:t>
                </a:r>
              </a:p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Chief editor who routes content plan</a:t>
                </a:r>
                <a:r>
                  <a:rPr lang="en-US" sz="1512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.</a:t>
                </a:r>
              </a:p>
            </p:txBody>
          </p:sp>
          <p:sp>
            <p:nvSpPr>
              <p:cNvPr id="1044" name="Rectangle: Rounded Corners 1043">
                <a:extLst>
                  <a:ext uri="{FF2B5EF4-FFF2-40B4-BE49-F238E27FC236}">
                    <a16:creationId xmlns:a16="http://schemas.microsoft.com/office/drawing/2014/main" id="{D88FD180-B896-1B67-FD8F-839CD25E460D}"/>
                  </a:ext>
                </a:extLst>
              </p:cNvPr>
              <p:cNvSpPr/>
              <p:nvPr/>
            </p:nvSpPr>
            <p:spPr>
              <a:xfrm>
                <a:off x="2527479" y="3980985"/>
                <a:ext cx="2052000" cy="1260000"/>
              </a:xfrm>
              <a:prstGeom prst="roundRect">
                <a:avLst/>
              </a:prstGeom>
              <a:noFill/>
              <a:ln w="50800">
                <a:solidFill>
                  <a:srgbClr val="00B0F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1"/>
                    </a:solidFill>
                    <a:latin typeface="Liberation Mono" panose="02070409020205020404" pitchFamily="49" charset="0"/>
                    <a:ea typeface="芫荽" pitchFamily="2" charset="-120"/>
                    <a:cs typeface="Liberation Mono" panose="02070409020205020404" pitchFamily="49" charset="0"/>
                  </a:rPr>
                  <a:t>web-designer</a:t>
                </a:r>
              </a:p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Turn vague aesthetics into CSS; dark/light.</a:t>
                </a:r>
              </a:p>
            </p:txBody>
          </p:sp>
          <p:sp>
            <p:nvSpPr>
              <p:cNvPr id="1045" name="Rectangle: Rounded Corners 1044">
                <a:extLst>
                  <a:ext uri="{FF2B5EF4-FFF2-40B4-BE49-F238E27FC236}">
                    <a16:creationId xmlns:a16="http://schemas.microsoft.com/office/drawing/2014/main" id="{88ADF975-3E97-8174-5B48-F906CF52A5FA}"/>
                  </a:ext>
                </a:extLst>
              </p:cNvPr>
              <p:cNvSpPr/>
              <p:nvPr/>
            </p:nvSpPr>
            <p:spPr>
              <a:xfrm>
                <a:off x="4734245" y="3980985"/>
                <a:ext cx="2052000" cy="1260000"/>
              </a:xfrm>
              <a:prstGeom prst="roundRect">
                <a:avLst/>
              </a:prstGeom>
              <a:noFill/>
              <a:ln w="50800">
                <a:solidFill>
                  <a:srgbClr val="00B0F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1"/>
                    </a:solidFill>
                    <a:latin typeface="Liberation Mono" panose="02070409020205020404" pitchFamily="49" charset="0"/>
                    <a:ea typeface="芫荽" pitchFamily="2" charset="-120"/>
                    <a:cs typeface="Liberation Mono" panose="02070409020205020404" pitchFamily="49" charset="0"/>
                  </a:rPr>
                  <a:t>growth-marketer</a:t>
                </a:r>
              </a:p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SEO, GEO, and analytics; sitemap.</a:t>
                </a:r>
              </a:p>
            </p:txBody>
          </p:sp>
          <p:sp>
            <p:nvSpPr>
              <p:cNvPr id="1046" name="Rectangle: Rounded Corners 1045">
                <a:extLst>
                  <a:ext uri="{FF2B5EF4-FFF2-40B4-BE49-F238E27FC236}">
                    <a16:creationId xmlns:a16="http://schemas.microsoft.com/office/drawing/2014/main" id="{E20DB002-E3F8-3DA1-4174-85E05E6827DD}"/>
                  </a:ext>
                </a:extLst>
              </p:cNvPr>
              <p:cNvSpPr/>
              <p:nvPr/>
            </p:nvSpPr>
            <p:spPr>
              <a:xfrm>
                <a:off x="6941011" y="3980985"/>
                <a:ext cx="2052000" cy="1260000"/>
              </a:xfrm>
              <a:prstGeom prst="roundRect">
                <a:avLst/>
              </a:prstGeom>
              <a:noFill/>
              <a:ln w="50800">
                <a:solidFill>
                  <a:srgbClr val="00B0F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1"/>
                    </a:solidFill>
                    <a:latin typeface="Liberation Mono" panose="02070409020205020404" pitchFamily="49" charset="0"/>
                    <a:ea typeface="芫荽" pitchFamily="2" charset="-120"/>
                    <a:cs typeface="Liberation Mono" panose="02070409020205020404" pitchFamily="49" charset="0"/>
                  </a:rPr>
                  <a:t>site-engineer</a:t>
                </a:r>
              </a:p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Build, wire JS and includes, deploy, validate.</a:t>
                </a:r>
              </a:p>
            </p:txBody>
          </p:sp>
          <p:sp>
            <p:nvSpPr>
              <p:cNvPr id="1047" name="Rectangle: Rounded Corners 1046">
                <a:extLst>
                  <a:ext uri="{FF2B5EF4-FFF2-40B4-BE49-F238E27FC236}">
                    <a16:creationId xmlns:a16="http://schemas.microsoft.com/office/drawing/2014/main" id="{525A960F-434E-BCF2-7F85-F07E43740374}"/>
                  </a:ext>
                </a:extLst>
              </p:cNvPr>
              <p:cNvSpPr/>
              <p:nvPr/>
            </p:nvSpPr>
            <p:spPr>
              <a:xfrm>
                <a:off x="9147775" y="3980985"/>
                <a:ext cx="2052000" cy="1260000"/>
              </a:xfrm>
              <a:prstGeom prst="roundRect">
                <a:avLst/>
              </a:prstGeom>
              <a:noFill/>
              <a:ln w="50800">
                <a:solidFill>
                  <a:srgbClr val="00206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Shared skills</a:t>
                </a:r>
              </a:p>
              <a:p>
                <a:pPr algn="ctr">
                  <a:lnSpc>
                    <a:spcPts val="1600"/>
                  </a:lnSpc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  <a:ea typeface="芫荽" pitchFamily="2" charset="-120"/>
                    <a:cs typeface="芫荽" pitchFamily="2" charset="-120"/>
                  </a:rPr>
                  <a:t>interview-user, scholar-import, SEO-audit … (reused across agents).</a:t>
                </a:r>
              </a:p>
            </p:txBody>
          </p:sp>
        </p:grpSp>
        <p:sp>
          <p:nvSpPr>
            <p:cNvPr id="1049" name="Left Bracket 1048">
              <a:extLst>
                <a:ext uri="{FF2B5EF4-FFF2-40B4-BE49-F238E27FC236}">
                  <a16:creationId xmlns:a16="http://schemas.microsoft.com/office/drawing/2014/main" id="{11F5DFA7-8778-5BF2-E9E0-A8F7F084E756}"/>
                </a:ext>
              </a:extLst>
            </p:cNvPr>
            <p:cNvSpPr/>
            <p:nvPr/>
          </p:nvSpPr>
          <p:spPr>
            <a:xfrm rot="5400000">
              <a:off x="5670244" y="-1627811"/>
              <a:ext cx="180000" cy="11160000"/>
            </a:xfrm>
            <a:prstGeom prst="leftBracket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0" name="Straight Arrow Connector 1049">
              <a:extLst>
                <a:ext uri="{FF2B5EF4-FFF2-40B4-BE49-F238E27FC236}">
                  <a16:creationId xmlns:a16="http://schemas.microsoft.com/office/drawing/2014/main" id="{3F043A0C-0DA7-12DA-8E9F-EF8C08F8EDD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616244" y="3643722"/>
              <a:ext cx="28800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6DE930DD-EC4E-BD41-1714-21397F257CF4}"/>
                </a:ext>
              </a:extLst>
            </p:cNvPr>
            <p:cNvCxnSpPr>
              <a:cxnSpLocks/>
            </p:cNvCxnSpPr>
            <p:nvPr/>
          </p:nvCxnSpPr>
          <p:spPr>
            <a:xfrm>
              <a:off x="4022857" y="3065622"/>
              <a:ext cx="28800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3" name="Rectangle: Rounded Corners 1052">
              <a:extLst>
                <a:ext uri="{FF2B5EF4-FFF2-40B4-BE49-F238E27FC236}">
                  <a16:creationId xmlns:a16="http://schemas.microsoft.com/office/drawing/2014/main" id="{BB514A8F-A241-9642-A596-1D182DA8F2D2}"/>
                </a:ext>
              </a:extLst>
            </p:cNvPr>
            <p:cNvSpPr/>
            <p:nvPr/>
          </p:nvSpPr>
          <p:spPr>
            <a:xfrm>
              <a:off x="714375" y="2525622"/>
              <a:ext cx="3240000" cy="1080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</a:pPr>
              <a:r>
                <a:rPr lang="en-US" altLang="zh-TW" b="1" dirty="0">
                  <a:solidFill>
                    <a:schemeClr val="tx1"/>
                  </a:solidFill>
                  <a:latin typeface="Liberation Mono" panose="02070409020205020404" pitchFamily="49" charset="0"/>
                  <a:ea typeface="芫荽" pitchFamily="2" charset="-120"/>
                  <a:cs typeface="Liberation Mono" panose="02070409020205020404" pitchFamily="49" charset="0"/>
                </a:rPr>
                <a:t>00_profile</a:t>
              </a:r>
            </a:p>
            <a:p>
              <a:pPr algn="ctr">
                <a:lnSpc>
                  <a:spcPts val="16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 Your facts: CV, résumé, publication, achievements, cover letters, SOP. The team reads here.</a:t>
              </a:r>
            </a:p>
          </p:txBody>
        </p:sp>
        <p:sp>
          <p:nvSpPr>
            <p:cNvPr id="1054" name="Left Bracket 1053">
              <a:extLst>
                <a:ext uri="{FF2B5EF4-FFF2-40B4-BE49-F238E27FC236}">
                  <a16:creationId xmlns:a16="http://schemas.microsoft.com/office/drawing/2014/main" id="{415374AE-CAA6-83EB-10B9-C19B57452408}"/>
                </a:ext>
              </a:extLst>
            </p:cNvPr>
            <p:cNvSpPr/>
            <p:nvPr/>
          </p:nvSpPr>
          <p:spPr>
            <a:xfrm rot="16200000" flipV="1">
              <a:off x="5670244" y="92238"/>
              <a:ext cx="180000" cy="11160000"/>
            </a:xfrm>
            <a:prstGeom prst="leftBracket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56" name="Straight Arrow Connector 1055">
              <a:extLst>
                <a:ext uri="{FF2B5EF4-FFF2-40B4-BE49-F238E27FC236}">
                  <a16:creationId xmlns:a16="http://schemas.microsoft.com/office/drawing/2014/main" id="{D5CBED7F-A613-C511-3960-063760A2AD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616244" y="6073771"/>
              <a:ext cx="28800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Rectangle: Rounded Corners 1056">
              <a:extLst>
                <a:ext uri="{FF2B5EF4-FFF2-40B4-BE49-F238E27FC236}">
                  <a16:creationId xmlns:a16="http://schemas.microsoft.com/office/drawing/2014/main" id="{A759EDA1-48DA-BCBA-D476-9FD7D7296872}"/>
                </a:ext>
              </a:extLst>
            </p:cNvPr>
            <p:cNvSpPr/>
            <p:nvPr/>
          </p:nvSpPr>
          <p:spPr>
            <a:xfrm>
              <a:off x="4140243" y="6330564"/>
              <a:ext cx="3240000" cy="720000"/>
            </a:xfrm>
            <a:prstGeom prst="roundRect">
              <a:avLst/>
            </a:prstGeom>
            <a:noFill/>
            <a:ln w="6350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</a:pPr>
              <a:r>
                <a:rPr lang="en-US" altLang="zh-TW" b="1" dirty="0">
                  <a:solidFill>
                    <a:schemeClr val="tx1"/>
                  </a:solidFill>
                  <a:latin typeface="Liberation Mono" panose="02070409020205020404" pitchFamily="49" charset="0"/>
                  <a:ea typeface="芫荽" pitchFamily="2" charset="-120"/>
                  <a:cs typeface="Liberation Mono" panose="02070409020205020404" pitchFamily="49" charset="0"/>
                </a:rPr>
                <a:t>01_www</a:t>
              </a:r>
            </a:p>
            <a:p>
              <a:pPr algn="ctr">
                <a:lnSpc>
                  <a:spcPts val="16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 Your live academic website.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56BE1F-BDC4-0F22-CDFB-186D508064E2}"/>
                </a:ext>
              </a:extLst>
            </p:cNvPr>
            <p:cNvSpPr txBox="1"/>
            <p:nvPr/>
          </p:nvSpPr>
          <p:spPr>
            <a:xfrm>
              <a:off x="4022857" y="5211409"/>
              <a:ext cx="1346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alpha val="20000"/>
                    </a:schemeClr>
                  </a:solidFill>
                </a:rPr>
                <a:t>edchen1240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F21685-7756-545B-9227-698ADB1338AC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E2E22A1-6C22-A741-86AD-2B384DBBE47D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19A108-241C-63E7-2DD1-E90E54F66275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5119E2-322D-0136-E4A4-09A1D4E0ED4B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DB422-DEAE-A92D-33E2-52E5CDC712AD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DF03A8-F2AB-0B08-94F0-0BEE333F292D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7B96A9F-D9E6-76FE-EDC6-ADBA65FD8C76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51081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26621-4286-308E-1FA7-3CB0E352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DB60D-EFBF-9FB8-CB1F-A4EDDCD1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CCD9-8406-4FA8-9511-10DB39F06237}" type="datetime1">
              <a:rPr lang="en-US" smtClean="0"/>
              <a:t>2026-05-30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5A03150-77B3-4CFD-385F-83A1E785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E39A93-D734-847B-2EF2-28428268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3</a:t>
            </a:fld>
            <a:endParaRPr lang="en-US"/>
          </a:p>
        </p:txBody>
      </p: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8870F09-2BF3-7135-B5D4-ED373D7DA9AA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91F38BF3-6B0A-83D0-8D37-ACAF0B226B73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F272E89C-0636-8161-E86C-1D4497CA9C60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B2AF392A-B6D4-3656-2907-F5E4EC6ED6A8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34D73D90-F5AD-57CB-B194-C66591D96B8C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57616C65-A8DB-689C-45AC-1823D7D70079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3B22E115-FADC-9753-55B7-C7E5B5B478CF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941C7497-01A6-4599-2D57-63963198EB3E}"/>
              </a:ext>
            </a:extLst>
          </p:cNvPr>
          <p:cNvGrpSpPr/>
          <p:nvPr/>
        </p:nvGrpSpPr>
        <p:grpSpPr>
          <a:xfrm>
            <a:off x="-244" y="1044763"/>
            <a:ext cx="11520488" cy="6120000"/>
            <a:chOff x="-244" y="1044763"/>
            <a:chExt cx="11520488" cy="6120000"/>
          </a:xfrm>
        </p:grpSpPr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48D4EEA5-5614-89B3-4CEA-51C0538BA631}"/>
                </a:ext>
              </a:extLst>
            </p:cNvPr>
            <p:cNvSpPr/>
            <p:nvPr/>
          </p:nvSpPr>
          <p:spPr>
            <a:xfrm>
              <a:off x="-244" y="1044763"/>
              <a:ext cx="11520488" cy="61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 dirty="0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FE4E3D1D-4929-ED8E-1382-7FB05163FEA5}"/>
                </a:ext>
              </a:extLst>
            </p:cNvPr>
            <p:cNvSpPr txBox="1"/>
            <p:nvPr/>
          </p:nvSpPr>
          <p:spPr>
            <a:xfrm>
              <a:off x="2065436" y="1178581"/>
              <a:ext cx="73896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Agentic Academic Site – How to Start and Evolve</a:t>
              </a:r>
            </a:p>
          </p:txBody>
        </p:sp>
        <p:sp>
          <p:nvSpPr>
            <p:cNvPr id="1058" name="Rectangle: Rounded Corners 1057">
              <a:extLst>
                <a:ext uri="{FF2B5EF4-FFF2-40B4-BE49-F238E27FC236}">
                  <a16:creationId xmlns:a16="http://schemas.microsoft.com/office/drawing/2014/main" id="{9AB554FC-467A-57EF-CF2D-433FF8AE8998}"/>
                </a:ext>
              </a:extLst>
            </p:cNvPr>
            <p:cNvSpPr/>
            <p:nvPr/>
          </p:nvSpPr>
          <p:spPr>
            <a:xfrm>
              <a:off x="457451" y="3988651"/>
              <a:ext cx="1636112" cy="720000"/>
            </a:xfrm>
            <a:prstGeom prst="roundRect">
              <a:avLst/>
            </a:prstGeom>
            <a:noFill/>
            <a:ln w="50800">
              <a:solidFill>
                <a:srgbClr val="CC99FF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ea typeface="芫荽" pitchFamily="2" charset="-120"/>
                  <a:cs typeface="Liberation Mono" panose="02070409020205020404" pitchFamily="49" charset="0"/>
                </a:rPr>
                <a:t>Fork or Clone this repo.</a:t>
              </a:r>
            </a:p>
          </p:txBody>
        </p:sp>
        <p:sp>
          <p:nvSpPr>
            <p:cNvPr id="1060" name="Rectangle: Rounded Corners 1059">
              <a:extLst>
                <a:ext uri="{FF2B5EF4-FFF2-40B4-BE49-F238E27FC236}">
                  <a16:creationId xmlns:a16="http://schemas.microsoft.com/office/drawing/2014/main" id="{4BF09C14-2A21-809C-B7E5-DFEC2C1E5BD6}"/>
                </a:ext>
              </a:extLst>
            </p:cNvPr>
            <p:cNvSpPr/>
            <p:nvPr/>
          </p:nvSpPr>
          <p:spPr>
            <a:xfrm>
              <a:off x="3005566" y="3808651"/>
              <a:ext cx="2762828" cy="1080000"/>
            </a:xfrm>
            <a:prstGeom prst="roundRect">
              <a:avLst/>
            </a:prstGeom>
            <a:noFill/>
            <a:ln w="50800">
              <a:solidFill>
                <a:srgbClr val="CC99FF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ea typeface="芫荽" pitchFamily="2" charset="-120"/>
                  <a:cs typeface="Liberation Mono" panose="02070409020205020404" pitchFamily="49" charset="0"/>
                </a:rPr>
                <a:t>Point your agent at AGENTS.md and describe the change you want.</a:t>
              </a:r>
            </a:p>
          </p:txBody>
        </p:sp>
        <p:sp>
          <p:nvSpPr>
            <p:cNvPr id="1061" name="Rectangle: Rounded Corners 1060">
              <a:extLst>
                <a:ext uri="{FF2B5EF4-FFF2-40B4-BE49-F238E27FC236}">
                  <a16:creationId xmlns:a16="http://schemas.microsoft.com/office/drawing/2014/main" id="{C0A87958-68E1-95CB-36B2-3CE84B487E0D}"/>
                </a:ext>
              </a:extLst>
            </p:cNvPr>
            <p:cNvSpPr/>
            <p:nvPr/>
          </p:nvSpPr>
          <p:spPr>
            <a:xfrm>
              <a:off x="5174204" y="1826207"/>
              <a:ext cx="3600000" cy="864000"/>
            </a:xfrm>
            <a:prstGeom prst="roundRect">
              <a:avLst/>
            </a:prstGeom>
            <a:noFill/>
            <a:ln w="50800">
              <a:solidFill>
                <a:srgbClr val="CC99FF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ea typeface="芫荽" pitchFamily="2" charset="-120"/>
                  <a:cs typeface="Liberation Mono" panose="02070409020205020404" pitchFamily="49" charset="0"/>
                </a:rPr>
                <a:t>Answer the interview questions or discuss details with agent.</a:t>
              </a:r>
            </a:p>
          </p:txBody>
        </p:sp>
        <p:sp>
          <p:nvSpPr>
            <p:cNvPr id="1062" name="Rectangle: Rounded Corners 1061">
              <a:extLst>
                <a:ext uri="{FF2B5EF4-FFF2-40B4-BE49-F238E27FC236}">
                  <a16:creationId xmlns:a16="http://schemas.microsoft.com/office/drawing/2014/main" id="{9822CC95-0D35-AFD5-C441-EE4F185B0674}"/>
                </a:ext>
              </a:extLst>
            </p:cNvPr>
            <p:cNvSpPr/>
            <p:nvPr/>
          </p:nvSpPr>
          <p:spPr>
            <a:xfrm>
              <a:off x="8183037" y="3808651"/>
              <a:ext cx="2880000" cy="1080000"/>
            </a:xfrm>
            <a:prstGeom prst="roundRect">
              <a:avLst/>
            </a:prstGeom>
            <a:noFill/>
            <a:ln w="50800">
              <a:solidFill>
                <a:srgbClr val="CC99FF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ea typeface="芫荽" pitchFamily="2" charset="-120"/>
                  <a:cs typeface="Liberation Mono" panose="02070409020205020404" pitchFamily="49" charset="0"/>
                </a:rPr>
                <a:t>Deploy to GitHub Pages or any host. Record progress in P00_Project Progress.md.</a:t>
              </a:r>
            </a:p>
          </p:txBody>
        </p:sp>
        <p:sp>
          <p:nvSpPr>
            <p:cNvPr id="1063" name="Rectangle: Rounded Corners 1062">
              <a:extLst>
                <a:ext uri="{FF2B5EF4-FFF2-40B4-BE49-F238E27FC236}">
                  <a16:creationId xmlns:a16="http://schemas.microsoft.com/office/drawing/2014/main" id="{620A2117-D883-7BF9-52F7-8139AC95AD1E}"/>
                </a:ext>
              </a:extLst>
            </p:cNvPr>
            <p:cNvSpPr/>
            <p:nvPr/>
          </p:nvSpPr>
          <p:spPr>
            <a:xfrm>
              <a:off x="5174204" y="6076348"/>
              <a:ext cx="3600000" cy="864000"/>
            </a:xfrm>
            <a:prstGeom prst="roundRect">
              <a:avLst/>
            </a:prstGeom>
            <a:noFill/>
            <a:ln w="50800">
              <a:solidFill>
                <a:srgbClr val="CC99FF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  <a:ea typeface="芫荽" pitchFamily="2" charset="-120"/>
                  <a:cs typeface="Liberation Mono" panose="02070409020205020404" pitchFamily="49" charset="0"/>
                </a:rPr>
                <a:t>Want to change something (artistic style, content update).</a:t>
              </a:r>
            </a:p>
          </p:txBody>
        </p:sp>
        <p:cxnSp>
          <p:nvCxnSpPr>
            <p:cNvPr id="1076" name="Straight Arrow Connector 1075">
              <a:extLst>
                <a:ext uri="{FF2B5EF4-FFF2-40B4-BE49-F238E27FC236}">
                  <a16:creationId xmlns:a16="http://schemas.microsoft.com/office/drawing/2014/main" id="{CFE27B7F-87E1-FF11-4EAC-AE24083D8A57}"/>
                </a:ext>
              </a:extLst>
            </p:cNvPr>
            <p:cNvCxnSpPr>
              <a:cxnSpLocks/>
            </p:cNvCxnSpPr>
            <p:nvPr/>
          </p:nvCxnSpPr>
          <p:spPr>
            <a:xfrm>
              <a:off x="2438985" y="4348651"/>
              <a:ext cx="28800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0" name="Group 1089">
              <a:extLst>
                <a:ext uri="{FF2B5EF4-FFF2-40B4-BE49-F238E27FC236}">
                  <a16:creationId xmlns:a16="http://schemas.microsoft.com/office/drawing/2014/main" id="{E92C087F-3E31-C35A-3B99-0B22CE0DF9EB}"/>
                </a:ext>
              </a:extLst>
            </p:cNvPr>
            <p:cNvGrpSpPr/>
            <p:nvPr/>
          </p:nvGrpSpPr>
          <p:grpSpPr>
            <a:xfrm>
              <a:off x="5174204" y="2563923"/>
              <a:ext cx="3600000" cy="3600000"/>
              <a:chOff x="5231224" y="2563923"/>
              <a:chExt cx="3600000" cy="3600000"/>
            </a:xfrm>
          </p:grpSpPr>
          <p:sp>
            <p:nvSpPr>
              <p:cNvPr id="1079" name="Arc 1078">
                <a:extLst>
                  <a:ext uri="{FF2B5EF4-FFF2-40B4-BE49-F238E27FC236}">
                    <a16:creationId xmlns:a16="http://schemas.microsoft.com/office/drawing/2014/main" id="{A2801DE4-A436-3B8B-D050-599713AD5685}"/>
                  </a:ext>
                </a:extLst>
              </p:cNvPr>
              <p:cNvSpPr/>
              <p:nvPr/>
            </p:nvSpPr>
            <p:spPr>
              <a:xfrm rot="16200000">
                <a:off x="5231224" y="2563923"/>
                <a:ext cx="3600000" cy="3600000"/>
              </a:xfrm>
              <a:prstGeom prst="arc">
                <a:avLst>
                  <a:gd name="adj1" fmla="val 17987553"/>
                  <a:gd name="adj2" fmla="val 19899771"/>
                </a:avLst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7" name="Arc 1086">
                <a:extLst>
                  <a:ext uri="{FF2B5EF4-FFF2-40B4-BE49-F238E27FC236}">
                    <a16:creationId xmlns:a16="http://schemas.microsoft.com/office/drawing/2014/main" id="{7FC50841-AE7D-1824-D9A1-7B4497C51C32}"/>
                  </a:ext>
                </a:extLst>
              </p:cNvPr>
              <p:cNvSpPr/>
              <p:nvPr/>
            </p:nvSpPr>
            <p:spPr>
              <a:xfrm>
                <a:off x="5231224" y="2563923"/>
                <a:ext cx="3600000" cy="3600000"/>
              </a:xfrm>
              <a:prstGeom prst="arc">
                <a:avLst>
                  <a:gd name="adj1" fmla="val 17987553"/>
                  <a:gd name="adj2" fmla="val 19899771"/>
                </a:avLst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Arc 1087">
                <a:extLst>
                  <a:ext uri="{FF2B5EF4-FFF2-40B4-BE49-F238E27FC236}">
                    <a16:creationId xmlns:a16="http://schemas.microsoft.com/office/drawing/2014/main" id="{17911873-F27C-6992-0CD8-706563A6CAA3}"/>
                  </a:ext>
                </a:extLst>
              </p:cNvPr>
              <p:cNvSpPr/>
              <p:nvPr/>
            </p:nvSpPr>
            <p:spPr>
              <a:xfrm rot="5400000">
                <a:off x="5231224" y="2563923"/>
                <a:ext cx="3600000" cy="3600000"/>
              </a:xfrm>
              <a:prstGeom prst="arc">
                <a:avLst>
                  <a:gd name="adj1" fmla="val 17987553"/>
                  <a:gd name="adj2" fmla="val 19899771"/>
                </a:avLst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9" name="Arc 1088">
                <a:extLst>
                  <a:ext uri="{FF2B5EF4-FFF2-40B4-BE49-F238E27FC236}">
                    <a16:creationId xmlns:a16="http://schemas.microsoft.com/office/drawing/2014/main" id="{D8C5C206-0E5F-1F6E-22B1-8F0B9A735E2B}"/>
                  </a:ext>
                </a:extLst>
              </p:cNvPr>
              <p:cNvSpPr/>
              <p:nvPr/>
            </p:nvSpPr>
            <p:spPr>
              <a:xfrm rot="10800000">
                <a:off x="5231224" y="2563923"/>
                <a:ext cx="3600000" cy="3600000"/>
              </a:xfrm>
              <a:prstGeom prst="arc">
                <a:avLst>
                  <a:gd name="adj1" fmla="val 17987553"/>
                  <a:gd name="adj2" fmla="val 19899771"/>
                </a:avLst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2AA57608-0343-97CC-3577-C0AF5A546A88}"/>
                </a:ext>
              </a:extLst>
            </p:cNvPr>
            <p:cNvSpPr txBox="1"/>
            <p:nvPr/>
          </p:nvSpPr>
          <p:spPr>
            <a:xfrm>
              <a:off x="9257497" y="4703985"/>
              <a:ext cx="1346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alpha val="20000"/>
                    </a:schemeClr>
                  </a:solidFill>
                </a:rPr>
                <a:t>edchen1240</a:t>
              </a:r>
            </a:p>
          </p:txBody>
        </p:sp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id="{B879B24A-C0F9-9665-18B9-22B639180E13}"/>
                </a:ext>
              </a:extLst>
            </p:cNvPr>
            <p:cNvSpPr txBox="1"/>
            <p:nvPr/>
          </p:nvSpPr>
          <p:spPr>
            <a:xfrm>
              <a:off x="5996180" y="4087041"/>
              <a:ext cx="19560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Evolve Loop</a:t>
              </a:r>
            </a:p>
          </p:txBody>
        </p:sp>
        <p:sp>
          <p:nvSpPr>
            <p:cNvPr id="1096" name="TextBox 1095">
              <a:extLst>
                <a:ext uri="{FF2B5EF4-FFF2-40B4-BE49-F238E27FC236}">
                  <a16:creationId xmlns:a16="http://schemas.microsoft.com/office/drawing/2014/main" id="{58D6B00E-1CE0-5F77-3736-2058CE8E061D}"/>
                </a:ext>
              </a:extLst>
            </p:cNvPr>
            <p:cNvSpPr txBox="1"/>
            <p:nvPr/>
          </p:nvSpPr>
          <p:spPr>
            <a:xfrm>
              <a:off x="259526" y="3359359"/>
              <a:ext cx="1328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To Start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87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34FD4-F1E6-B8E3-370C-9E9A3B9C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1DEEB2-4E21-5FC9-F14F-543C5829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1CCD9-8406-4FA8-9511-10DB39F06237}" type="datetime1">
              <a:rPr lang="en-US" smtClean="0"/>
              <a:t>2026-05-30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60A561-7394-D189-1E6E-472007F3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DE80F9F-1D64-36BB-DBFC-6AC254A2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4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A77FD-2325-9A52-D60E-FF35ABB735D7}"/>
              </a:ext>
            </a:extLst>
          </p:cNvPr>
          <p:cNvGrpSpPr/>
          <p:nvPr/>
        </p:nvGrpSpPr>
        <p:grpSpPr>
          <a:xfrm>
            <a:off x="0" y="1011418"/>
            <a:ext cx="11520488" cy="5760000"/>
            <a:chOff x="0" y="1011418"/>
            <a:chExt cx="11520488" cy="5760000"/>
          </a:xfrm>
        </p:grpSpPr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B7DCD855-3994-A190-B7C9-1BA826999A12}"/>
                </a:ext>
              </a:extLst>
            </p:cNvPr>
            <p:cNvSpPr/>
            <p:nvPr/>
          </p:nvSpPr>
          <p:spPr>
            <a:xfrm>
              <a:off x="0" y="1011418"/>
              <a:ext cx="11520488" cy="576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552E7B5F-AC89-CB98-C15A-C368485A0B35}"/>
                </a:ext>
              </a:extLst>
            </p:cNvPr>
            <p:cNvCxnSpPr>
              <a:cxnSpLocks/>
            </p:cNvCxnSpPr>
            <p:nvPr/>
          </p:nvCxnSpPr>
          <p:spPr>
            <a:xfrm rot="20160000">
              <a:off x="4755652" y="5445521"/>
              <a:ext cx="1800000" cy="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9873BFD-2640-B057-E55A-099288E0AEA7}"/>
                </a:ext>
              </a:extLst>
            </p:cNvPr>
            <p:cNvSpPr/>
            <p:nvPr/>
          </p:nvSpPr>
          <p:spPr>
            <a:xfrm>
              <a:off x="7976866" y="3177720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GitHub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Canonical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DF292AA-71FE-292B-3237-3081159EA4E8}"/>
                </a:ext>
              </a:extLst>
            </p:cNvPr>
            <p:cNvSpPr/>
            <p:nvPr/>
          </p:nvSpPr>
          <p:spPr>
            <a:xfrm>
              <a:off x="6674920" y="4429440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Local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Editing area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672F04E-D32A-7736-AAF5-0CF2B7B8ABE1}"/>
                </a:ext>
              </a:extLst>
            </p:cNvPr>
            <p:cNvSpPr/>
            <p:nvPr/>
          </p:nvSpPr>
          <p:spPr>
            <a:xfrm>
              <a:off x="9278812" y="4429440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Institute Server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Deployment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8DB1497-FE6A-2FCE-6E0D-B01EB9530648}"/>
                </a:ext>
              </a:extLst>
            </p:cNvPr>
            <p:cNvGrpSpPr/>
            <p:nvPr/>
          </p:nvGrpSpPr>
          <p:grpSpPr>
            <a:xfrm>
              <a:off x="7230598" y="3594791"/>
              <a:ext cx="3155641" cy="787395"/>
              <a:chOff x="5710997" y="3337266"/>
              <a:chExt cx="3569175" cy="833291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F3930FF-E077-35A2-741D-08578F94E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80231" y="3699669"/>
                <a:ext cx="360000" cy="36000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887A461C-EE16-23DA-792B-896343E5A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703" y="3699667"/>
                <a:ext cx="360000" cy="36000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2E1D104-7B1E-71A9-A024-D9015D2B5187}"/>
                  </a:ext>
                </a:extLst>
              </p:cNvPr>
              <p:cNvSpPr txBox="1"/>
              <p:nvPr/>
            </p:nvSpPr>
            <p:spPr>
              <a:xfrm rot="2700000">
                <a:off x="8676172" y="3566557"/>
                <a:ext cx="833291" cy="374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1" dirty="0"/>
                  <a:t>git pull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36C18D8-F5DD-0CF0-FA47-E7D6EA0B8230}"/>
                  </a:ext>
                </a:extLst>
              </p:cNvPr>
              <p:cNvSpPr txBox="1"/>
              <p:nvPr/>
            </p:nvSpPr>
            <p:spPr>
              <a:xfrm rot="18900000">
                <a:off x="5710997" y="3566559"/>
                <a:ext cx="938470" cy="374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1" dirty="0"/>
                  <a:t>git push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5EB073E-65AD-C232-2525-F395908426A6}"/>
                </a:ext>
              </a:extLst>
            </p:cNvPr>
            <p:cNvSpPr txBox="1"/>
            <p:nvPr/>
          </p:nvSpPr>
          <p:spPr>
            <a:xfrm>
              <a:off x="102155" y="4142729"/>
              <a:ext cx="5687198" cy="6158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b="1" dirty="0"/>
                <a:t>Stage I-B: </a:t>
              </a:r>
            </a:p>
            <a:p>
              <a:r>
                <a:rPr lang="en-US" sz="1701" b="1" dirty="0"/>
                <a:t>Post Writing Workflow – LaTeX</a:t>
              </a:r>
              <a:r>
                <a:rPr lang="en-US" sz="1701" dirty="0"/>
                <a:t> (better citation management)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77C84E-A0E6-E677-04AF-87B48FACAFBC}"/>
                </a:ext>
              </a:extLst>
            </p:cNvPr>
            <p:cNvSpPr txBox="1"/>
            <p:nvPr/>
          </p:nvSpPr>
          <p:spPr>
            <a:xfrm>
              <a:off x="3766349" y="5410524"/>
              <a:ext cx="847604" cy="354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dirty="0"/>
                <a:t>git sync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179EC3D-6FF0-A92A-90D4-1E0BF5D04B6F}"/>
                </a:ext>
              </a:extLst>
            </p:cNvPr>
            <p:cNvSpPr/>
            <p:nvPr/>
          </p:nvSpPr>
          <p:spPr>
            <a:xfrm>
              <a:off x="2659650" y="4748493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Overleaf .pdf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Article Preview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867BE0F-23F5-2105-9BC8-BAF61DBDEAF3}"/>
                </a:ext>
              </a:extLst>
            </p:cNvPr>
            <p:cNvSpPr/>
            <p:nvPr/>
          </p:nvSpPr>
          <p:spPr>
            <a:xfrm>
              <a:off x="195878" y="4748493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Human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Read / Edit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6045623-6874-AD15-E65F-86C58684DE4F}"/>
                </a:ext>
              </a:extLst>
            </p:cNvPr>
            <p:cNvSpPr/>
            <p:nvPr/>
          </p:nvSpPr>
          <p:spPr>
            <a:xfrm>
              <a:off x="2659650" y="5860981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Local .tex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Article Editing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40545AD-CB51-0A81-037C-C8B7A95BC72B}"/>
                </a:ext>
              </a:extLst>
            </p:cNvPr>
            <p:cNvGrpSpPr/>
            <p:nvPr/>
          </p:nvGrpSpPr>
          <p:grpSpPr>
            <a:xfrm>
              <a:off x="2272056" y="5004926"/>
              <a:ext cx="288000" cy="99444"/>
              <a:chOff x="1726372" y="3181995"/>
              <a:chExt cx="360000" cy="10524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BC149EC-B928-CB0F-6307-BFEE0E192681}"/>
                  </a:ext>
                </a:extLst>
              </p:cNvPr>
              <p:cNvCxnSpPr/>
              <p:nvPr/>
            </p:nvCxnSpPr>
            <p:spPr>
              <a:xfrm>
                <a:off x="1726372" y="328723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8903E1A6-04FD-9856-7A7A-6AA8E524D56F}"/>
                  </a:ext>
                </a:extLst>
              </p:cNvPr>
              <p:cNvCxnSpPr/>
              <p:nvPr/>
            </p:nvCxnSpPr>
            <p:spPr>
              <a:xfrm>
                <a:off x="1726372" y="318199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80CF97-1AB4-4507-7A9D-2F501F91530A}"/>
                </a:ext>
              </a:extLst>
            </p:cNvPr>
            <p:cNvGrpSpPr/>
            <p:nvPr/>
          </p:nvGrpSpPr>
          <p:grpSpPr>
            <a:xfrm>
              <a:off x="2272056" y="6117413"/>
              <a:ext cx="288000" cy="99444"/>
              <a:chOff x="1726372" y="3181995"/>
              <a:chExt cx="360000" cy="105240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24F7AEF-F977-F8F7-91F8-E34EEC8F4360}"/>
                  </a:ext>
                </a:extLst>
              </p:cNvPr>
              <p:cNvCxnSpPr/>
              <p:nvPr/>
            </p:nvCxnSpPr>
            <p:spPr>
              <a:xfrm>
                <a:off x="1726372" y="328723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A26C37F-8A9B-F3E1-4E53-2C21CF705702}"/>
                  </a:ext>
                </a:extLst>
              </p:cNvPr>
              <p:cNvCxnSpPr/>
              <p:nvPr/>
            </p:nvCxnSpPr>
            <p:spPr>
              <a:xfrm>
                <a:off x="1726372" y="318199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17B934C-531B-48FA-FA5D-A86C08712DFA}"/>
                </a:ext>
              </a:extLst>
            </p:cNvPr>
            <p:cNvGrpSpPr/>
            <p:nvPr/>
          </p:nvGrpSpPr>
          <p:grpSpPr>
            <a:xfrm rot="5400000">
              <a:off x="3505650" y="5549237"/>
              <a:ext cx="288000" cy="99444"/>
              <a:chOff x="1726372" y="3181995"/>
              <a:chExt cx="360000" cy="105240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07ADB97-1B23-D69C-275D-97E39AD67D28}"/>
                  </a:ext>
                </a:extLst>
              </p:cNvPr>
              <p:cNvCxnSpPr/>
              <p:nvPr/>
            </p:nvCxnSpPr>
            <p:spPr>
              <a:xfrm>
                <a:off x="1726372" y="328723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4DD5D2B-CD0C-206B-2844-FA2A2AD90491}"/>
                  </a:ext>
                </a:extLst>
              </p:cNvPr>
              <p:cNvCxnSpPr/>
              <p:nvPr/>
            </p:nvCxnSpPr>
            <p:spPr>
              <a:xfrm>
                <a:off x="1726372" y="318199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994CDC8F-322A-CD66-BFD5-7870937813F9}"/>
                </a:ext>
              </a:extLst>
            </p:cNvPr>
            <p:cNvSpPr txBox="1"/>
            <p:nvPr/>
          </p:nvSpPr>
          <p:spPr>
            <a:xfrm>
              <a:off x="6190955" y="2490487"/>
              <a:ext cx="2079287" cy="6158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b="1" dirty="0"/>
                <a:t>Stage-II</a:t>
              </a:r>
            </a:p>
            <a:p>
              <a:r>
                <a:rPr lang="en-US" sz="1701" b="1" dirty="0"/>
                <a:t>Deployment Pipeline</a:t>
              </a: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757F9F9A-657E-B66A-4A66-4B0EA6CF7CB4}"/>
                </a:ext>
              </a:extLst>
            </p:cNvPr>
            <p:cNvSpPr txBox="1"/>
            <p:nvPr/>
          </p:nvSpPr>
          <p:spPr>
            <a:xfrm>
              <a:off x="2196593" y="1116878"/>
              <a:ext cx="71273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Agentic Academic Site - Post Writing Workflow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E88041-045A-92B5-BE6D-143A9EBBA487}"/>
                </a:ext>
              </a:extLst>
            </p:cNvPr>
            <p:cNvSpPr txBox="1"/>
            <p:nvPr/>
          </p:nvSpPr>
          <p:spPr>
            <a:xfrm>
              <a:off x="102155" y="1552215"/>
              <a:ext cx="4987647" cy="6158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b="1" dirty="0"/>
                <a:t>Stage I-A: </a:t>
              </a:r>
            </a:p>
            <a:p>
              <a:r>
                <a:rPr lang="en-US" sz="1701" b="1" dirty="0"/>
                <a:t>Post Writing Workflow – Markdown</a:t>
              </a:r>
              <a:r>
                <a:rPr lang="en-US" sz="1701" dirty="0"/>
                <a:t> (fast production)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11CC94-4EDF-8B32-A264-C5F533BB56F2}"/>
                </a:ext>
              </a:extLst>
            </p:cNvPr>
            <p:cNvSpPr txBox="1"/>
            <p:nvPr/>
          </p:nvSpPr>
          <p:spPr>
            <a:xfrm>
              <a:off x="3766349" y="2838613"/>
              <a:ext cx="847604" cy="354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1" dirty="0"/>
                <a:t>git sync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78BDBB3-E1A2-0B6D-87DC-30CDCA70B422}"/>
                </a:ext>
              </a:extLst>
            </p:cNvPr>
            <p:cNvSpPr/>
            <p:nvPr/>
          </p:nvSpPr>
          <p:spPr>
            <a:xfrm>
              <a:off x="2659650" y="2171008"/>
              <a:ext cx="1980000" cy="612309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Human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Read / Edit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B101764-8FE4-F274-314E-AC17B1269ECD}"/>
                </a:ext>
              </a:extLst>
            </p:cNvPr>
            <p:cNvSpPr/>
            <p:nvPr/>
          </p:nvSpPr>
          <p:spPr>
            <a:xfrm>
              <a:off x="2659650" y="3248480"/>
              <a:ext cx="1980000" cy="864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Local .md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Article Editing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/ MD preview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AB4AFB0-913D-AABE-881C-A76848F13C31}"/>
                </a:ext>
              </a:extLst>
            </p:cNvPr>
            <p:cNvGrpSpPr/>
            <p:nvPr/>
          </p:nvGrpSpPr>
          <p:grpSpPr>
            <a:xfrm>
              <a:off x="2272056" y="3630758"/>
              <a:ext cx="288000" cy="99444"/>
              <a:chOff x="1726372" y="3181995"/>
              <a:chExt cx="360000" cy="105240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7F18C809-CC93-1E36-056B-C54A6713EC83}"/>
                  </a:ext>
                </a:extLst>
              </p:cNvPr>
              <p:cNvCxnSpPr/>
              <p:nvPr/>
            </p:nvCxnSpPr>
            <p:spPr>
              <a:xfrm>
                <a:off x="1726372" y="328723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64AFE58-78C1-7171-EDBC-979FDE36C1FA}"/>
                  </a:ext>
                </a:extLst>
              </p:cNvPr>
              <p:cNvCxnSpPr/>
              <p:nvPr/>
            </p:nvCxnSpPr>
            <p:spPr>
              <a:xfrm>
                <a:off x="1726372" y="318199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FC98320-13E1-9EAC-766E-7579676A0B20}"/>
                </a:ext>
              </a:extLst>
            </p:cNvPr>
            <p:cNvSpPr/>
            <p:nvPr/>
          </p:nvSpPr>
          <p:spPr>
            <a:xfrm>
              <a:off x="195878" y="3374480"/>
              <a:ext cx="1980000" cy="612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AI Agent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Collaboration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0DD9B7F-3386-5676-C526-E261E8D87C24}"/>
                </a:ext>
              </a:extLst>
            </p:cNvPr>
            <p:cNvGrpSpPr/>
            <p:nvPr/>
          </p:nvGrpSpPr>
          <p:grpSpPr>
            <a:xfrm rot="5400000">
              <a:off x="3505650" y="2939840"/>
              <a:ext cx="288000" cy="99444"/>
              <a:chOff x="1726372" y="3181995"/>
              <a:chExt cx="360000" cy="105240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20730D8-11D1-4F05-C71F-70708A943427}"/>
                  </a:ext>
                </a:extLst>
              </p:cNvPr>
              <p:cNvCxnSpPr/>
              <p:nvPr/>
            </p:nvCxnSpPr>
            <p:spPr>
              <a:xfrm>
                <a:off x="1726372" y="328723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ECCDFFE-90BF-7B0A-EA18-D693955DEB8B}"/>
                  </a:ext>
                </a:extLst>
              </p:cNvPr>
              <p:cNvCxnSpPr/>
              <p:nvPr/>
            </p:nvCxnSpPr>
            <p:spPr>
              <a:xfrm>
                <a:off x="1726372" y="3181995"/>
                <a:ext cx="360000" cy="0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E70E66E6-A1B1-0DE5-374D-06799F726500}"/>
                </a:ext>
              </a:extLst>
            </p:cNvPr>
            <p:cNvGrpSpPr/>
            <p:nvPr/>
          </p:nvGrpSpPr>
          <p:grpSpPr>
            <a:xfrm>
              <a:off x="5022595" y="5629305"/>
              <a:ext cx="1257011" cy="453515"/>
              <a:chOff x="5016848" y="5501246"/>
              <a:chExt cx="1257011" cy="45351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9932888-6204-F6E6-EAB5-DCE534810E2C}"/>
                  </a:ext>
                </a:extLst>
              </p:cNvPr>
              <p:cNvGrpSpPr/>
              <p:nvPr/>
            </p:nvGrpSpPr>
            <p:grpSpPr>
              <a:xfrm>
                <a:off x="5501353" y="5501246"/>
                <a:ext cx="288000" cy="99444"/>
                <a:chOff x="1726372" y="3181995"/>
                <a:chExt cx="360000" cy="105240"/>
              </a:xfrm>
            </p:grpSpPr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D1EA128-9FB9-B2B0-D979-BCD456CF91C2}"/>
                    </a:ext>
                  </a:extLst>
                </p:cNvPr>
                <p:cNvCxnSpPr/>
                <p:nvPr/>
              </p:nvCxnSpPr>
              <p:spPr>
                <a:xfrm>
                  <a:off x="1726372" y="3287235"/>
                  <a:ext cx="360000" cy="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B1172F9-CEFF-208B-336F-E9FCC147699B}"/>
                    </a:ext>
                  </a:extLst>
                </p:cNvPr>
                <p:cNvCxnSpPr/>
                <p:nvPr/>
              </p:nvCxnSpPr>
              <p:spPr>
                <a:xfrm>
                  <a:off x="1726372" y="3181995"/>
                  <a:ext cx="360000" cy="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039B9DC-D16A-F883-1032-8C856FDAB28D}"/>
                  </a:ext>
                </a:extLst>
              </p:cNvPr>
              <p:cNvSpPr txBox="1"/>
              <p:nvPr/>
            </p:nvSpPr>
            <p:spPr>
              <a:xfrm>
                <a:off x="5016848" y="5600690"/>
                <a:ext cx="1257011" cy="3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1" dirty="0">
                    <a:effectLst>
                      <a:glow rad="63500">
                        <a:schemeClr val="bg1"/>
                      </a:glow>
                    </a:effectLst>
                  </a:rPr>
                  <a:t>.tex to .html</a:t>
                </a:r>
              </a:p>
            </p:txBody>
          </p:sp>
        </p:grp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EEE3A7DA-19E8-0959-C30F-B0811D304000}"/>
                </a:ext>
              </a:extLst>
            </p:cNvPr>
            <p:cNvCxnSpPr>
              <a:cxnSpLocks/>
            </p:cNvCxnSpPr>
            <p:nvPr/>
          </p:nvCxnSpPr>
          <p:spPr>
            <a:xfrm rot="1440000" flipV="1">
              <a:off x="4755652" y="4050199"/>
              <a:ext cx="1800000" cy="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0" name="Group 1029">
              <a:extLst>
                <a:ext uri="{FF2B5EF4-FFF2-40B4-BE49-F238E27FC236}">
                  <a16:creationId xmlns:a16="http://schemas.microsoft.com/office/drawing/2014/main" id="{02E1C18F-B4E5-0D18-C1D9-7565FFA1EA8F}"/>
                </a:ext>
              </a:extLst>
            </p:cNvPr>
            <p:cNvGrpSpPr/>
            <p:nvPr/>
          </p:nvGrpSpPr>
          <p:grpSpPr>
            <a:xfrm>
              <a:off x="5011823" y="3322608"/>
              <a:ext cx="1278555" cy="474290"/>
              <a:chOff x="5016848" y="5126400"/>
              <a:chExt cx="1278555" cy="474290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FD21C988-4E5B-B9DC-3F9C-35F8BA6E26E4}"/>
                  </a:ext>
                </a:extLst>
              </p:cNvPr>
              <p:cNvGrpSpPr/>
              <p:nvPr/>
            </p:nvGrpSpPr>
            <p:grpSpPr>
              <a:xfrm>
                <a:off x="5501353" y="5501246"/>
                <a:ext cx="288000" cy="99444"/>
                <a:chOff x="1726372" y="3181995"/>
                <a:chExt cx="360000" cy="105240"/>
              </a:xfrm>
            </p:grpSpPr>
            <p:cxnSp>
              <p:nvCxnSpPr>
                <p:cNvPr id="1036" name="Straight Arrow Connector 1035">
                  <a:extLst>
                    <a:ext uri="{FF2B5EF4-FFF2-40B4-BE49-F238E27FC236}">
                      <a16:creationId xmlns:a16="http://schemas.microsoft.com/office/drawing/2014/main" id="{B541999C-981D-5C00-92F9-DCC4C45405DA}"/>
                    </a:ext>
                  </a:extLst>
                </p:cNvPr>
                <p:cNvCxnSpPr/>
                <p:nvPr/>
              </p:nvCxnSpPr>
              <p:spPr>
                <a:xfrm>
                  <a:off x="1726372" y="3287235"/>
                  <a:ext cx="360000" cy="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7" name="Straight Arrow Connector 1036">
                  <a:extLst>
                    <a:ext uri="{FF2B5EF4-FFF2-40B4-BE49-F238E27FC236}">
                      <a16:creationId xmlns:a16="http://schemas.microsoft.com/office/drawing/2014/main" id="{122D4091-C246-3C26-C09B-A41E25645E2E}"/>
                    </a:ext>
                  </a:extLst>
                </p:cNvPr>
                <p:cNvCxnSpPr/>
                <p:nvPr/>
              </p:nvCxnSpPr>
              <p:spPr>
                <a:xfrm>
                  <a:off x="1726372" y="3181995"/>
                  <a:ext cx="360000" cy="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2A73D334-DE5A-32AD-1888-B7237E02CF27}"/>
                  </a:ext>
                </a:extLst>
              </p:cNvPr>
              <p:cNvSpPr txBox="1"/>
              <p:nvPr/>
            </p:nvSpPr>
            <p:spPr>
              <a:xfrm>
                <a:off x="5016848" y="5126400"/>
                <a:ext cx="1278555" cy="354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01" dirty="0">
                    <a:effectLst>
                      <a:glow rad="63500">
                        <a:schemeClr val="bg1"/>
                      </a:glow>
                    </a:effectLst>
                  </a:rPr>
                  <a:t>.md to .html</a:t>
                </a:r>
              </a:p>
            </p:txBody>
          </p:sp>
        </p:grpSp>
        <p:sp>
          <p:nvSpPr>
            <p:cNvPr id="1039" name="Rectangle: Rounded Corners 1038">
              <a:extLst>
                <a:ext uri="{FF2B5EF4-FFF2-40B4-BE49-F238E27FC236}">
                  <a16:creationId xmlns:a16="http://schemas.microsoft.com/office/drawing/2014/main" id="{B97F87D3-940B-2515-5E15-F14507BF6425}"/>
                </a:ext>
              </a:extLst>
            </p:cNvPr>
            <p:cNvSpPr/>
            <p:nvPr/>
          </p:nvSpPr>
          <p:spPr>
            <a:xfrm>
              <a:off x="195878" y="5861135"/>
              <a:ext cx="1980000" cy="612000"/>
            </a:xfrm>
            <a:prstGeom prst="roundRect">
              <a:avLst/>
            </a:prstGeom>
            <a:noFill/>
            <a:ln w="38100">
              <a:solidFill>
                <a:schemeClr val="tx1">
                  <a:lumMod val="50000"/>
                  <a:lumOff val="50000"/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AI Agent</a:t>
              </a:r>
            </a:p>
            <a:p>
              <a:pPr algn="ctr">
                <a:lnSpc>
                  <a:spcPts val="1512"/>
                </a:lnSpc>
              </a:pPr>
              <a:r>
                <a:rPr lang="en-US" dirty="0">
                  <a:solidFill>
                    <a:schemeClr val="tx1"/>
                  </a:solidFill>
                  <a:ea typeface="芫荽" pitchFamily="2" charset="-120"/>
                  <a:cs typeface="芫荽" pitchFamily="2" charset="-120"/>
                </a:rPr>
                <a:t>Collaboration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98D273-364D-7D7F-AB53-4D3BC2547B60}"/>
                </a:ext>
              </a:extLst>
            </p:cNvPr>
            <p:cNvSpPr txBox="1"/>
            <p:nvPr/>
          </p:nvSpPr>
          <p:spPr>
            <a:xfrm>
              <a:off x="6923398" y="4842654"/>
              <a:ext cx="1346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alpha val="20000"/>
                    </a:schemeClr>
                  </a:solidFill>
                </a:rPr>
                <a:t>edchen1240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99A579-D0DE-D12C-9459-B84C13AEB6CE}"/>
                </a:ext>
              </a:extLst>
            </p:cNvPr>
            <p:cNvSpPr txBox="1"/>
            <p:nvPr/>
          </p:nvSpPr>
          <p:spPr>
            <a:xfrm>
              <a:off x="2976228" y="3886261"/>
              <a:ext cx="1346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alpha val="20000"/>
                    </a:schemeClr>
                  </a:solidFill>
                </a:rPr>
                <a:t>edchen1240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A1CB83-7539-B947-1F64-CC6C98D1CC43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C87E5C1-9FB7-A1C5-99C3-1D79ACD9483F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14FC943-E60D-D516-FCD2-77B7D2A77C10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94B840C-2264-FFC0-D3AC-CC048FDC0F23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F3431E2-CE2E-4B58-FDB8-15DA0A6DE4D4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0122A8D-720A-1C0B-C210-4675D0C99CB4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4DD3B1A-07A0-DCB3-862D-73DEB77D1769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375310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4E3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C949C-7E97-FA51-0C44-A68EB927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5594-8254-AA10-B17F-9696B900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0800000" cy="1080000"/>
          </a:xfrm>
          <a:solidFill>
            <a:srgbClr val="0F7D6F"/>
          </a:solidFill>
          <a:ln w="38100">
            <a:noFill/>
          </a:ln>
        </p:spPr>
        <p:txBody>
          <a:bodyPr vert="horz" lIns="86402" tIns="43201" rIns="86402" bIns="43201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ea typeface="芫荽" pitchFamily="2" charset="-120"/>
                <a:cs typeface="芫荽" pitchFamily="2" charset="-120"/>
              </a:rPr>
              <a:t>Calibri Light, 32-36, Bold</a:t>
            </a:r>
            <a:br>
              <a:rPr lang="en-US" sz="3496" b="1" dirty="0">
                <a:solidFill>
                  <a:schemeClr val="bg1"/>
                </a:solidFill>
                <a:ea typeface="芫荽" pitchFamily="2" charset="-120"/>
                <a:cs typeface="芫荽" pitchFamily="2" charset="-120"/>
              </a:rPr>
            </a:br>
            <a:r>
              <a:rPr lang="en-US" sz="2400" dirty="0">
                <a:solidFill>
                  <a:schemeClr val="bg1"/>
                </a:solidFill>
                <a:ea typeface="芫荽" pitchFamily="2" charset="-120"/>
                <a:cs typeface="芫荽" pitchFamily="2" charset="-120"/>
              </a:rPr>
              <a:t>Calibri Light, 20-24, Normal</a:t>
            </a:r>
            <a:endParaRPr lang="en-US" sz="2362" dirty="0">
              <a:solidFill>
                <a:schemeClr val="bg1"/>
              </a:solidFill>
              <a:ea typeface="芫荽" pitchFamily="2" charset="-120"/>
              <a:cs typeface="芫荽" pitchFamily="2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AA36-2445-2ECB-A06D-FA2AD8C90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40000"/>
            <a:ext cx="10800000" cy="648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Calibri, 16-24, Normal </a:t>
            </a:r>
            <a:r>
              <a:rPr lang="pl-PL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 (H=</a:t>
            </a:r>
            <a:r>
              <a:rPr lang="en-US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13</a:t>
            </a:r>
            <a:r>
              <a:rPr lang="pl-PL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, W=30, x=1, y=</a:t>
            </a:r>
            <a:r>
              <a:rPr lang="en-US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3.8</a:t>
            </a:r>
            <a:r>
              <a:rPr lang="pl-PL" sz="2000" dirty="0">
                <a:solidFill>
                  <a:srgbClr val="2B2B30"/>
                </a:solidFill>
                <a:ea typeface="芫荽" pitchFamily="2" charset="-120"/>
                <a:cs typeface="芫荽" pitchFamily="2" charset="-120"/>
              </a:rPr>
              <a:t>) </a:t>
            </a:r>
            <a:endParaRPr lang="en-US" sz="2000" dirty="0">
              <a:solidFill>
                <a:srgbClr val="2B2B30"/>
              </a:solidFill>
              <a:ea typeface="芫荽" pitchFamily="2" charset="-120"/>
              <a:cs typeface="芫荽" pitchFamily="2" charset="-12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2AC6DA4-F3E1-BE36-05D9-B9955D69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25CB3-C285-4229-ACC0-120B8832B1A7}" type="datetime1">
              <a:rPr lang="en-US" smtClean="0"/>
              <a:t>2026-05-30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E9D8B4C-25B1-AC66-5C70-F439782D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your-name@your.institute.edu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70746B9-3522-7247-BB9B-64196188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77736-A9D9-2695-E117-464A9502A237}"/>
              </a:ext>
            </a:extLst>
          </p:cNvPr>
          <p:cNvSpPr txBox="1"/>
          <p:nvPr/>
        </p:nvSpPr>
        <p:spPr>
          <a:xfrm>
            <a:off x="360000" y="-720001"/>
            <a:ext cx="1858201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Dimension:3.0, 30.0</a:t>
            </a:r>
          </a:p>
          <a:p>
            <a:r>
              <a:rPr lang="en-US" sz="1607" dirty="0"/>
              <a:t>Position: 1.0, 0.8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607BD-C9D1-24B2-AD08-27C70D3CB596}"/>
              </a:ext>
            </a:extLst>
          </p:cNvPr>
          <p:cNvSpPr txBox="1"/>
          <p:nvPr/>
        </p:nvSpPr>
        <p:spPr>
          <a:xfrm>
            <a:off x="-2037180" y="1614522"/>
            <a:ext cx="1858201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Dimension:3.0, 30.0</a:t>
            </a:r>
          </a:p>
          <a:p>
            <a:r>
              <a:rPr lang="en-US" sz="1607" dirty="0"/>
              <a:t>Position: 1.0, 0.8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6A47C8-B70C-98F7-18B0-9B77A2946664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9B0D8F-3EBB-4456-B378-A13D6AB51CDD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C35887-E0CE-27FB-AA3E-8555CEFB9E48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997CA25-CDCF-EF86-A77A-33AE5995E833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477269C-ADBC-3D3B-AB8F-E228C9B48AA8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984128A-638D-5AF6-72A4-18FEC08EBAF4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CFD2A26-227E-4C17-55A4-D83E80191E13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291881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5A0F-CD80-6F98-3641-B909D1B4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039A00-D61D-38E3-35CD-3BDF43DF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932B-0472-4D43-ADD0-2DD778047004}" type="datetime1">
              <a:rPr lang="en-US" smtClean="0"/>
              <a:t>2026-05-30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CABAF-DEF1-7C56-20F0-5C532E19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your-name@your.institute.edu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6D5B4-ED72-0846-10FF-8C520D70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08443-9971-4CF7-AC11-FCF956BB598F}" type="slidenum">
              <a:rPr lang="en-US" smtClean="0"/>
              <a:t>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F533FF-804E-2632-5C0F-7EF186E89476}"/>
              </a:ext>
            </a:extLst>
          </p:cNvPr>
          <p:cNvGrpSpPr/>
          <p:nvPr/>
        </p:nvGrpSpPr>
        <p:grpSpPr>
          <a:xfrm>
            <a:off x="-10800000" y="-7200000"/>
            <a:ext cx="33120000" cy="23040000"/>
            <a:chOff x="-10800000" y="-7200000"/>
            <a:chExt cx="33120000" cy="230400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1B2B171-9187-628C-D32B-79C32C3E1267}"/>
                </a:ext>
              </a:extLst>
            </p:cNvPr>
            <p:cNvSpPr/>
            <p:nvPr/>
          </p:nvSpPr>
          <p:spPr>
            <a:xfrm>
              <a:off x="-10800000" y="-7200000"/>
              <a:ext cx="1440000" cy="1440000"/>
            </a:xfrm>
            <a:prstGeom prst="ellipse">
              <a:avLst/>
            </a:prstGeom>
            <a:solidFill>
              <a:srgbClr val="48D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FE626D7-635B-8C61-FC8C-F477BB56562C}"/>
                </a:ext>
              </a:extLst>
            </p:cNvPr>
            <p:cNvSpPr/>
            <p:nvPr/>
          </p:nvSpPr>
          <p:spPr>
            <a:xfrm>
              <a:off x="20880000" y="-7200000"/>
              <a:ext cx="1440000" cy="1440000"/>
            </a:xfrm>
            <a:prstGeom prst="ellipse">
              <a:avLst/>
            </a:prstGeom>
            <a:solidFill>
              <a:srgbClr val="29C7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156FD29-5510-C82A-60C4-BE5DA29D575F}"/>
                </a:ext>
              </a:extLst>
            </p:cNvPr>
            <p:cNvSpPr/>
            <p:nvPr/>
          </p:nvSpPr>
          <p:spPr>
            <a:xfrm>
              <a:off x="-10800000" y="14400000"/>
              <a:ext cx="1440000" cy="1440000"/>
            </a:xfrm>
            <a:prstGeom prst="ellipse">
              <a:avLst/>
            </a:prstGeom>
            <a:solidFill>
              <a:srgbClr val="0F7D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5AF2DD-EBA9-43A3-4D36-DC987EF12310}"/>
                </a:ext>
              </a:extLst>
            </p:cNvPr>
            <p:cNvSpPr/>
            <p:nvPr/>
          </p:nvSpPr>
          <p:spPr>
            <a:xfrm>
              <a:off x="20880000" y="14400000"/>
              <a:ext cx="1440000" cy="1440000"/>
            </a:xfrm>
            <a:prstGeom prst="ellipse">
              <a:avLst/>
            </a:prstGeom>
            <a:solidFill>
              <a:srgbClr val="0B5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6123AD3-03C8-3EF3-CE2B-B9D0B2B6A0DA}"/>
                </a:ext>
              </a:extLst>
            </p:cNvPr>
            <p:cNvSpPr/>
            <p:nvPr/>
          </p:nvSpPr>
          <p:spPr>
            <a:xfrm>
              <a:off x="5040000" y="-7200000"/>
              <a:ext cx="1440000" cy="1440000"/>
            </a:xfrm>
            <a:prstGeom prst="ellipse">
              <a:avLst/>
            </a:prstGeom>
            <a:solidFill>
              <a:srgbClr val="E4E3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D6104-1A07-B136-38D1-66C0C276C478}"/>
                </a:ext>
              </a:extLst>
            </p:cNvPr>
            <p:cNvSpPr/>
            <p:nvPr/>
          </p:nvSpPr>
          <p:spPr>
            <a:xfrm>
              <a:off x="5040000" y="14400000"/>
              <a:ext cx="1440000" cy="1440000"/>
            </a:xfrm>
            <a:prstGeom prst="ellipse">
              <a:avLst/>
            </a:prstGeom>
            <a:solidFill>
              <a:srgbClr val="2B2B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396511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4218</TotalTime>
  <Words>420</Words>
  <Application>Microsoft Office PowerPoint</Application>
  <PresentationFormat>Custom</PresentationFormat>
  <Paragraphs>102</Paragraphs>
  <Slides>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芫荽</vt:lpstr>
      <vt:lpstr>Arial</vt:lpstr>
      <vt:lpstr>Calibri</vt:lpstr>
      <vt:lpstr>Calibri Light</vt:lpstr>
      <vt:lpstr>Liberation Mono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Calibri Light, 32-36, Bold Calibri Light, 20-24, Normal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Chen</dc:creator>
  <cp:lastModifiedBy>Ed Chen</cp:lastModifiedBy>
  <cp:revision>79</cp:revision>
  <dcterms:created xsi:type="dcterms:W3CDTF">2024-01-29T15:22:18Z</dcterms:created>
  <dcterms:modified xsi:type="dcterms:W3CDTF">2026-05-30T17:12:58Z</dcterms:modified>
</cp:coreProperties>
</file>